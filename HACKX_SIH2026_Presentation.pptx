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200" b="1">
                <a:solidFill>
                  <a:srgbClr val="FF9933"/>
                </a:solidFill>
                <a:latin typeface="Arial"/>
              </a:defRPr>
            </a:pPr>
            <a:r>
              <a:t>SMART INDIA HACKATHON 2026 // PROBLEM ID: SIH 260143</a:t>
            </a:r>
          </a:p>
          <a:p>
            <a:pPr algn="ctr">
              <a:spcAft>
                <a:spcPts val="800"/>
              </a:spcAft>
              <a:defRPr sz="5600" b="1">
                <a:solidFill>
                  <a:srgbClr val="FFFFFF"/>
                </a:solidFill>
                <a:latin typeface="Arial"/>
              </a:defRPr>
            </a:pPr>
            <a:r>
              <a:t>HACKX</a:t>
            </a:r>
          </a:p>
          <a:p>
            <a:pPr algn="ctr">
              <a:spcAft>
                <a:spcPts val="2000"/>
              </a:spcAft>
              <a:defRPr sz="2000" b="1">
                <a:solidFill>
                  <a:srgbClr val="FFD700"/>
                </a:solidFill>
                <a:latin typeface="Arial"/>
              </a:defRPr>
            </a:pPr>
            <a:r>
              <a:t>Autonomous Multi-Modal Oil Spill Intelligence, Lagrangian Drift Modeling</a:t>
            </a:r>
            <a:br/>
            <a:r>
              <a:t>&amp; Vessel Attribution System</a:t>
            </a:r>
          </a:p>
          <a:p>
            <a:pPr algn="ctr">
              <a:spcAft>
                <a:spcPts val="2800"/>
              </a:spcAft>
              <a:defRPr sz="1300">
                <a:solidFill>
                  <a:srgbClr val="F1F5F9"/>
                </a:solidFill>
                <a:latin typeface="Arial"/>
              </a:defRPr>
            </a:pPr>
            <a:r>
              <a:t>Ministry of Defence | Indian Coast Guard | National Oil Spill Disaster Contingency Plan (NOS-DCP)</a:t>
            </a:r>
          </a:p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🌐 Live Public Deployment: https://hack-x-three.vercel.app  •  Team: HackX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609539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1051560"/>
            <a:ext cx="609630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700"/>
                </a:solidFill>
                <a:latin typeface="Arial"/>
              </a:defRPr>
            </a:pPr>
            <a:r>
              <a:t>PROBLEM BACKGROUND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Critical Maritime Challenge: Anonymous High-Seas Pollution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HACKX: Autonomous Multi-Modal Maritime Oil Spill Intelligence &amp; Vessel Attribution System | SIH 260143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63040"/>
            <a:ext cx="46634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B2545"/>
                </a:solidFill>
                <a:latin typeface="Arial"/>
              </a:defRPr>
            </a:pPr>
            <a:r>
              <a:t>1. The Anonymity Gap in EEZ Waters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Over 75% of marine oil spills originate from illicit bilge cleaning and ballast tank flushing by merchant vessels taking advantage of nighttime and high-seas isolation.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India's vast 7,516 km coastline and 2.37 million sq km Exclusive Economic Zone (EEZ) handles high-density petroleum shipping corridors (Sector MH-4, Gulf of Kutch).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Dark Vessel Tactics: Offending vessels deliberately disable AIS transponders or execute unauthorized speed drops during discharge to conceal identity.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Traditional manual maritime patrols detect spills hours or days after discharge, when oil has weathered and currents have shifted slicks far from discharge origin.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47548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B2545"/>
                </a:solidFill>
                <a:latin typeface="Arial"/>
              </a:defRPr>
            </a:pPr>
            <a:r>
              <a:t>2. Operational Deficiencies in Existing Systems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Lagging Satellite Analysis: Manual interpretation of SAR radar and optical passes takes hours to days, delaying emergency containment deployment.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Decoupled Trajectory Physics: Existing tools lack automated reverse drift integration (combining NOAA GFS winds with INCOIS hydrodynamic currents).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Lack of Legal Evidence: Coastal authorities struggle to hold foreign vessel operators liable in court without tamper-evident, forensically attributed legal dossiers.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Economic &amp; Ecological Toll: Coastal mangrove destruction, artisanal fisheries damage, and millions spent on Tier-2 &amp; Tier-3 disaster cleanup.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609539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1051560"/>
            <a:ext cx="609630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700"/>
                </a:solidFill>
                <a:latin typeface="Arial"/>
              </a:defRPr>
            </a:pPr>
            <a:r>
              <a:t>INNOVATION &amp;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Solution: Autonomous End-to-End Maritime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HACKX: Autonomous Multi-Modal Maritime Oil Spill Intelligence &amp; Vessel Attribution System | SIH 260143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63040"/>
            <a:ext cx="28346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06837"/>
                </a:solidFill>
                <a:latin typeface="Arial"/>
              </a:defRPr>
            </a:pPr>
            <a:r>
              <a:t>🛰️ Detection Engine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Automated Sentinel-1 SAR radar satellite ingest &amp; radiometric calibration.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Deep U-Net segmentation for dark spot extraction &amp; land masking.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Instant extraction of slick area (sq km), perimeter, and centroid coordinates.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Oil weathering age estimation (hrs) based on viscosity and dispersion rates.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63040"/>
            <a:ext cx="28346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B2545"/>
                </a:solidFill>
                <a:latin typeface="Arial"/>
              </a:defRPr>
            </a:pPr>
            <a:r>
              <a:t>🌊 Ocean Physics Engine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Lagrangian particle advection framework with 1,000+ stochastic particles.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Reverse Hindcasting: Backtracks oil slick trajectory to exact origin locus.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Forward Forecasting: 48h coastal impact &amp; mangrove vulnerability prediction.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Forced by live INCOIS 2.4 surface currents and NOAA GFS 10m wind fields.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463040"/>
            <a:ext cx="29260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FF9933"/>
                </a:solidFill>
                <a:latin typeface="Arial"/>
              </a:defRPr>
            </a:pPr>
            <a:r>
              <a:t>⚖️ Attribution &amp; Action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AIS Spatiotemporal Corridor Match: Correlates candidate vessels with origin locus.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Multi-Factor Scoring: AIS gap anomalies, speed drop profile, and route proximity.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1-Click Certified Legal Dossier: Tamper-evident PDF export with SHA-256 integrity.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Tactical Containment Simulator: Ro-Boom &amp; disc skimmer deployment optimization.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609539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1051560"/>
            <a:ext cx="609630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700"/>
                </a:solidFill>
                <a:latin typeface="Arial"/>
              </a:defRPr>
            </a:pPr>
            <a:r>
              <a:t>TECHNICAL SPECIFICATIONS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Technology Stack: Military-Grade Full-Stack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HACKX: Autonomous Multi-Modal Maritime Oil Spill Intelligence &amp; Vessel Attribution System | SIH 260143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63040"/>
            <a:ext cx="28346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B2545"/>
                </a:solidFill>
                <a:latin typeface="Arial"/>
              </a:defRPr>
            </a:pPr>
            <a:r>
              <a:t>Tactical Web Workstation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Frontend Framework: React 18, TypeScript, Vite.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Styling &amp; Design System: Military-spec Vanilla CSS &amp; Tailwind CSS tokens.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GIS Interactive Map: Leaflet &amp; MapLibre GL with custom canvas particle layers.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Data Visualization: Recharts telemetry profiles (SOG vs Time, Suspicion Matrix).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GIGW 3.0 Compliant: Bilingual English/Hindi with accessibility contrast modes.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63040"/>
            <a:ext cx="28346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B2545"/>
                </a:solidFill>
                <a:latin typeface="Arial"/>
              </a:defRPr>
            </a:pPr>
            <a:r>
              <a:t>REST API &amp; AI Backend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FastAPI (Python 3.11) with asynchronous non-blocking worker pools.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SQLAlchemy 2.0 ORM with PostgreSQL / PostGIS spatial indexing.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SQLite Zero-Config local fallback for developer and evaluators testing.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PyTorch &amp; OpenCV: Pre-trained U-Net weights for SAR slick segmentation.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ReportLab Engine: Cryptographically signed PDF legal dossier generation.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463040"/>
            <a:ext cx="29260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B2545"/>
                </a:solidFill>
                <a:latin typeface="Arial"/>
              </a:defRPr>
            </a:pPr>
            <a:r>
              <a:t>Data Pipeline &amp; Ingest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Copernicus Marine Data Store: Sentinel-1 C-SAR Interferometric Wide (IW).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Spire / AISHub Stream: Real-time global terrestrial &amp; satellite AIS telemetry.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INCOIS (Ministry of Earth Sciences): High-resolution Indian Ocean currents.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NOAA GFS &amp; IMD: Global surface wind vectors (u, v) and wave heights.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Continuous Deployment: Automated CI/CD pipeline on Vercel &amp; GitHub 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609539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1051560"/>
            <a:ext cx="609630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700"/>
                </a:solidFill>
                <a:latin typeface="Arial"/>
              </a:defRPr>
            </a:pPr>
            <a:r>
              <a:t>CORE PHYSICS &amp; ML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Lagrangian Hydrodynamic Reverse Drift &amp; Vessel Attribution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HACKX: Autonomous Multi-Modal Maritime Oil Spill Intelligence &amp; Vessel Attribution System | SIH 260143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63040"/>
            <a:ext cx="46634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B2545"/>
                </a:solidFill>
                <a:latin typeface="Arial"/>
              </a:defRPr>
            </a:pPr>
            <a:r>
              <a:t>Physics-Based Reverse Drift Advection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Lagrangian Formulation: dx/dt = U_current + a_wind * W_10m + D_turbulent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Windage Coefficient: Calibrated to 3.2% of 10-meter wind velocity with a 20° Coriolis deflection angle in the Northern Hemisphere.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Hydrodynamic Forcing: INCOIS 2.4 surface current velocity vectors at 1/12° spatial resolution across the Arabian Sea and Bay of Bengal.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Discharge Locus Reconstruction: Backpropagates thousands of tracer particles backward in time (up to 48 hours) to identify the original spill coordinate.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Spatial Uncertainty Buffer: Calculates covariance ellipse (±2.5 km) representing atmospheric and oceanic turbulent diffusion.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47548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B2545"/>
                </a:solidFill>
                <a:latin typeface="Arial"/>
              </a:defRPr>
            </a:pPr>
            <a:r>
              <a:t>Attribution &amp; Behavioral Scoring Model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Spatiotemporal Intersection: Filters vessels present in the reconstructed discharge polygon at the estimated discharge timestamp (T_discharge ± 1.5h).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Multi-Dimensional Suspicion Metric: Suspicion Score = w1*(Proximity) + w2*(Speed Anomaly) + w3*(AIS Blackout) + w4*(Vessel Class Factor).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Speed Anomaly Analysis: Flags merchant tankers exhibiting sudden deceleration (&lt; 5 knots) inside international shipping lanes.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Dark Vessel Detection: Identifies unannounced AIS transponder gaps exceeding 30 minutes in offshore petroleum operational zones.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Outcome: Definitively ranks candidate vessels with court-admissible forensic certainty (e.g. MT Ocean Pioneer: 94.2% attribution confidence).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609539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1051560"/>
            <a:ext cx="609630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700"/>
                </a:solidFill>
                <a:latin typeface="Arial"/>
              </a:defRPr>
            </a:pPr>
            <a:r>
              <a:t>OPERATIONAL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New Operational Capabilities Added to the Workstation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HACKX: Autonomous Multi-Modal Maritime Oil Spill Intelligence &amp; Vessel Attribution System | SIH 260143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24688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63040"/>
            <a:ext cx="20116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06837"/>
                </a:solidFill>
                <a:latin typeface="Arial"/>
              </a:defRPr>
            </a:pPr>
            <a:r>
              <a:t>🛡️ Containment Simulator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Interactive Booms &amp; Skimmers tactical simulator.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0-3000m Ro-Boom 1500 inflatable ocean booms.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0-8 Desmi 150 disc skimmer units (70 m3/h).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Dornier 228 aerial dispersant sortie planning.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Live mathematical efficiency % &amp; map deployment.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280160"/>
            <a:ext cx="24688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463040"/>
            <a:ext cx="20116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FF9933"/>
                </a:solidFill>
                <a:latin typeface="Arial"/>
              </a:defRPr>
            </a:pPr>
            <a:r>
              <a:t>📢 Citizen Portal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Public Pollution &amp; Tarball incident portal.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Auto-detected GPS geotag with accuracy radius.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Photo evidence drag-and-drop attachment.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Categories: Tarballs, Sheen, Dead Marine Life.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Generates official tracking receipt (ICG/REP/XXXX).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24688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63040"/>
            <a:ext cx="20116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B2545"/>
                </a:solidFill>
                <a:latin typeface="Arial"/>
              </a:defRPr>
            </a:pPr>
            <a:r>
              <a:t>⚡ NAVAREA Ticker &amp; Night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Live NAVAREA VIII broadcast ticker bar.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Priority alerts: Met-Ocean, SAR, and Pollution.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🌙 CIC Night Combat Mode: Military high-contrast night ops toggle.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Universal mode switcher: Public Portal vs Tactical Station.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Pause on hover &amp; alert audio chimes.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280160"/>
            <a:ext cx="24688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463040"/>
            <a:ext cx="20116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284C7"/>
                </a:solidFill>
                <a:latin typeface="Arial"/>
              </a:defRPr>
            </a:pPr>
            <a:r>
              <a:t>🌊 Ocean Streamlines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60 FPS animated hydrodynamic streamline overlay.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Represents INCOIS ocean surface current vectors.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Dynamic alpha fading and flow velocity tails.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Real-time toggle via GIS map layer controls.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GPU-accelerated HTML5 Canvas rendering.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609539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1051560"/>
            <a:ext cx="609630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700"/>
                </a:solidFill>
                <a:latin typeface="Arial"/>
              </a:defRPr>
            </a:pPr>
            <a:r>
              <a:t>LEGAL FRAMEWORK &amp; MARPOL ENFORCEMENT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Tamper-Evident Court Dossier: Transforming Data to Prosecution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HACKX: Autonomous Multi-Modal Maritime Oil Spill Intelligence &amp; Vessel Attribution System | SIH 260143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63040"/>
            <a:ext cx="46634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B2545"/>
                </a:solidFill>
                <a:latin typeface="Arial"/>
              </a:defRPr>
            </a:pPr>
            <a:r>
              <a:t>Statutory Legal Framework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Enforces Merchant Shipping Act, 1958 (Part XIA - Prevention and Containment of Pollution of the Sea by Oil).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Upholds International MARPOL 73/78 Annex I regulations governing the discharge of oil and oily mixtures at sea.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Adheres to Indian Evidence Act, Section 65B for electronic and geospatial evidence certification in maritime courts.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Aligns with National Oil Spill Disaster Contingency Plan (NOS-DCP) standard operating procedures for ICG commanders.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47548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B2545"/>
                </a:solidFill>
                <a:latin typeface="Arial"/>
              </a:defRPr>
            </a:pPr>
            <a:r>
              <a:t>Dossier Structure &amp; Cryptographic Integrity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SHA-256 Hash Authentication: Cryptographically binds satellite telemetry, AIS logs, and meteorological forcing vectors to prevent evidentiary tampering.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Visual Audit Trail: Satellite SAR radar crop, hindcast trajectory curve, speed profile timeline, and vessel transponder logs.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Command Sign-Off: Digital signature stamp of Commanding Officer, Marine Environmental Division (GIGW 3.0 / CCA India).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1-Click PDF Compilation: Generates official multi-page court dossier in under 2 seconds, ready for dispatch to Port State Control (PSC) &amp; INTERPOL.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609539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1051560"/>
            <a:ext cx="609630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700"/>
                </a:solidFill>
                <a:latin typeface="Arial"/>
              </a:defRPr>
            </a:pPr>
            <a:r>
              <a:t>DEPLOYMENT &amp; ACCESSIBILITY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Live Web Deployment &amp; Google Search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HACKX: Autonomous Multi-Modal Maritime Oil Spill Intelligence &amp; Vessel Attribution System | SIH 260143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63040"/>
            <a:ext cx="46634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B2545"/>
                </a:solidFill>
                <a:latin typeface="Arial"/>
              </a:defRPr>
            </a:pPr>
            <a:r>
              <a:t>🌐 Global Cloud Deployment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Live Production URL: https://hack-x-three.vercel.app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Global Edge CDN: Deployed across 300+ edge network locations via Vercel with zero latency.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Zero-Downtime Continuous Deployment: Every commit pushed to GitHub automatically triggers automated production build.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Mobile &amp; Tablet Responsive: Evaluators and commanders can access the complete tactical workstation or public portal from any device.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Standalone Hyperspace HUD: Dedicated canvas background visualization tool included.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47548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B2545"/>
                </a:solidFill>
                <a:latin typeface="Arial"/>
              </a:defRPr>
            </a:pPr>
            <a:r>
              <a:t>🔍 Google Search Console &amp; Indexing Ready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Google Site Verification: Pre-verified with googleb07aa00924abfb06.html &amp; ownership meta tags.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Automated Sitemap: XML sitemap (/sitemap.xml) indexed for automated Googlebot discovery.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Robots Protocol: (/robots.txt) configured to allow full indexing of government portals and public advisories.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OpenGraph &amp; Twitter Card Metadata: Rich social sharing previews with official Indian Coast Guard branding.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Court-Grade Documentation: Complete DEPLOYMENT.md and architecture guides in git repository.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6095390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1051560"/>
            <a:ext cx="609630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700"/>
                </a:solidFill>
                <a:latin typeface="Arial"/>
              </a:defRPr>
            </a:pPr>
            <a:r>
              <a:t>FEASIBILITY &amp;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National Impact, Scalability &amp; Sustainability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HACKX: Autonomous Multi-Modal Maritime Oil Spill Intelligence &amp; Vessel Attribution System | SIH 260143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63040"/>
            <a:ext cx="28346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06837"/>
                </a:solidFill>
                <a:latin typeface="Arial"/>
              </a:defRPr>
            </a:pPr>
            <a:r>
              <a:t>💰 Cost &amp; Efficiency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Zero Satellite Acquisition Cost: Leverages open ESA Copernicus Sentinel constellation data.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Reduces surveillance sortie flight hours by 60% through targeted satellite vectoring.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Accelerates pollution interdiction time from 36 hours to under 15 minutes.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63040"/>
            <a:ext cx="28346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B2545"/>
                </a:solidFill>
                <a:latin typeface="Arial"/>
              </a:defRPr>
            </a:pPr>
            <a:r>
              <a:t>🌍 Ecological Defense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Protects fragile coastal ecosystems: Sundarbans mangroves, Gulf of Mannar corals.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Safeguards livelihoods of over 4 million coastal artisanal fishermen.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Prevents toxic polycyclic aromatic hydrocarbons (PAH) entering marine food chains.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463040"/>
            <a:ext cx="29260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FF9933"/>
                </a:solidFill>
                <a:latin typeface="Arial"/>
              </a:defRPr>
            </a:pPr>
            <a:r>
              <a:t>🚀 Regional Scalability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Scalable across India's entire EEZ and regional NAVAREA VIII zones.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Adaptable to neighboring Indian Ocean littoral nations (BIMSTEC / IORA).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Extensible to chemical spills (HNS), marine debris tracking, and plastic drift.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200" b="1">
                <a:solidFill>
                  <a:srgbClr val="FF9933"/>
                </a:solidFill>
                <a:latin typeface="Arial"/>
              </a:defRPr>
            </a:pPr>
            <a:r>
              <a:t>SMART INDIA HACKATHON 2026 // CONCLUSION</a:t>
            </a:r>
          </a:p>
          <a:p>
            <a:pPr algn="ctr">
              <a:spcAft>
                <a:spcPts val="14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HACKX: Eliminating the Anonymity of Marine Oil Dumping</a:t>
            </a:r>
          </a:p>
          <a:p>
            <a:pPr algn="ctr">
              <a:spcAft>
                <a:spcPts val="2800"/>
              </a:spcAft>
              <a:defRPr sz="1600">
                <a:solidFill>
                  <a:srgbClr val="F1F5F9"/>
                </a:solidFill>
                <a:latin typeface="Arial"/>
              </a:defRPr>
            </a:pPr>
            <a:r>
              <a:t>From satellite radar detection to court-admissible legal dossier in under 5 minutes.</a:t>
            </a:r>
            <a:br/>
            <a:r>
              <a:t>Safeguarding India's maritime sovereignty, blue economy, and ecological legacy.</a:t>
            </a:r>
          </a:p>
          <a:p>
            <a:pPr algn="ctr">
              <a:spcAft>
                <a:spcPts val="2400"/>
              </a:spcAft>
              <a:defRPr sz="2200" b="1">
                <a:solidFill>
                  <a:srgbClr val="FFD700"/>
                </a:solidFill>
                <a:latin typeface="Arial"/>
              </a:defRPr>
            </a:pPr>
            <a:r>
              <a:t>वयम् रक्षामः • WE PROTECT</a:t>
            </a:r>
          </a:p>
          <a:p>
            <a:pPr algn="ctr">
              <a:defRPr sz="1300" b="1">
                <a:solidFill>
                  <a:srgbClr val="10B981"/>
                </a:solidFill>
                <a:latin typeface="Arial"/>
              </a:defRPr>
            </a:pPr>
            <a:r>
              <a:t>🔗 Live Application: https://hack-x-three.vercel.app</a:t>
            </a:r>
            <a:br/>
            <a:r>
              <a:t>💻 GitHub: https://github.com/soham18j5-jpg/HackX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